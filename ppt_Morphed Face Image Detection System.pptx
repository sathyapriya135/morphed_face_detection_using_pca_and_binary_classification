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DM Sans" pitchFamily="2" charset="0"/>
      <p:regular r:id="rId12"/>
    </p:embeddedFont>
    <p:embeddedFont>
      <p:font typeface="Mokoto" panose="020B0604020202020204" charset="0"/>
      <p:regular r:id="rId13"/>
    </p:embeddedFont>
    <p:embeddedFont>
      <p:font typeface="Montserrat Heavy" panose="020B0604020202020204" charset="0"/>
      <p:regular r:id="rId14"/>
    </p:embeddedFont>
    <p:embeddedFont>
      <p:font typeface="Montserrat Semi-Bold" panose="020B0604020202020204" charset="0"/>
      <p:regular r:id="rId15"/>
    </p:embeddedFont>
    <p:embeddedFont>
      <p:font typeface="Raleway Bold Italics" panose="020B0604020202020204" charset="0"/>
      <p:regular r:id="rId16"/>
    </p:embeddedFont>
    <p:embeddedFont>
      <p:font typeface="Raleway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2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56814" y="-298246"/>
            <a:ext cx="6531186" cy="11641778"/>
            <a:chOff x="0" y="0"/>
            <a:chExt cx="1720148" cy="30661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0148" cy="3066147"/>
            </a:xfrm>
            <a:custGeom>
              <a:avLst/>
              <a:gdLst/>
              <a:ahLst/>
              <a:cxnLst/>
              <a:rect l="l" t="t" r="r" b="b"/>
              <a:pathLst>
                <a:path w="1720148" h="3066147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674092">
            <a:off x="-3513169" y="8339629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28919" flipH="1" flipV="1">
            <a:off x="1076036" y="-4819412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74404" y="8960330"/>
            <a:ext cx="658167" cy="595940"/>
          </a:xfrm>
          <a:custGeom>
            <a:avLst/>
            <a:gdLst/>
            <a:ahLst/>
            <a:cxnLst/>
            <a:rect l="l" t="t" r="r" b="b"/>
            <a:pathLst>
              <a:path w="658167" h="595940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169680" y="2577746"/>
            <a:ext cx="6538465" cy="3871997"/>
          </a:xfrm>
          <a:custGeom>
            <a:avLst/>
            <a:gdLst/>
            <a:ahLst/>
            <a:cxnLst/>
            <a:rect l="l" t="t" r="r" b="b"/>
            <a:pathLst>
              <a:path w="6538465" h="3871997">
                <a:moveTo>
                  <a:pt x="0" y="0"/>
                </a:moveTo>
                <a:lnTo>
                  <a:pt x="6538465" y="0"/>
                </a:lnTo>
                <a:lnTo>
                  <a:pt x="6538465" y="3871997"/>
                </a:lnTo>
                <a:lnTo>
                  <a:pt x="0" y="3871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63668" y="1913826"/>
            <a:ext cx="9506012" cy="27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0"/>
              </a:lnSpc>
            </a:pPr>
            <a:r>
              <a:rPr lang="en-US" sz="7463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Morphed Face Image Detection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6543" y="6988776"/>
            <a:ext cx="14057600" cy="48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682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PCA Feature Extraction | SVM Classification | Biometric Security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3668" y="5163151"/>
            <a:ext cx="9506012" cy="13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5600" b="1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Using PCA and Binary Classification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215431" y="9102261"/>
            <a:ext cx="16507252" cy="273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3"/>
              </a:lnSpc>
              <a:spcBef>
                <a:spcPct val="0"/>
              </a:spcBef>
            </a:pPr>
            <a:r>
              <a:rPr lang="en-US" sz="1588" spc="1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DATASET: CIPLAB REAL &amp; FAKE FACE DETECTION (KAGGLE) | 2,041 IMAGES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51648" y="8539831"/>
            <a:ext cx="4907756" cy="8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spc="16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R. SATHYAPRIYA (2025165002)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spc="16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M.E CSE (DSCS)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72293">
            <a:off x="-5799371" y="6668368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1264" y="3248985"/>
            <a:ext cx="3970782" cy="8229600"/>
          </a:xfrm>
          <a:custGeom>
            <a:avLst/>
            <a:gdLst/>
            <a:ahLst/>
            <a:cxnLst/>
            <a:rect l="l" t="t" r="r" b="b"/>
            <a:pathLst>
              <a:path w="3970782" h="8229600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29890" y="2114892"/>
            <a:ext cx="2691369" cy="2691369"/>
          </a:xfrm>
          <a:custGeom>
            <a:avLst/>
            <a:gdLst/>
            <a:ahLst/>
            <a:cxnLst/>
            <a:rect l="l" t="t" r="r" b="b"/>
            <a:pathLst>
              <a:path w="2691369" h="2691369">
                <a:moveTo>
                  <a:pt x="0" y="0"/>
                </a:moveTo>
                <a:lnTo>
                  <a:pt x="2691369" y="0"/>
                </a:lnTo>
                <a:lnTo>
                  <a:pt x="2691369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572293" flipV="1">
            <a:off x="8920761" y="-3494855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436195" y="1662180"/>
            <a:ext cx="7366041" cy="110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36195" y="3432002"/>
            <a:ext cx="10823105" cy="544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b="1" i="1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Problem Statement:</a:t>
            </a:r>
          </a:p>
          <a:p>
            <a:pPr algn="l">
              <a:lnSpc>
                <a:spcPts val="3319"/>
              </a:lnSpc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Face morphing attacks combine two facial images to deceive biometric authentication systems. This project develops an ML-based system to automatically detect such morphed images.</a:t>
            </a:r>
          </a:p>
          <a:p>
            <a:pPr algn="l">
              <a:lnSpc>
                <a:spcPts val="3319"/>
              </a:lnSpc>
            </a:pPr>
            <a:endParaRPr lang="en-US" sz="2573" i="1">
              <a:solidFill>
                <a:srgbClr val="FFFFFF"/>
              </a:solidFill>
              <a:latin typeface="Raleway Italics"/>
              <a:ea typeface="Raleway Italics"/>
              <a:cs typeface="Raleway Italics"/>
              <a:sym typeface="Raleway Italics"/>
            </a:endParaRPr>
          </a:p>
          <a:p>
            <a:pPr algn="l">
              <a:lnSpc>
                <a:spcPts val="3319"/>
              </a:lnSpc>
            </a:pPr>
            <a:r>
              <a:rPr lang="en-US" sz="2573" b="1" i="1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Objectives:</a:t>
            </a:r>
          </a:p>
          <a:p>
            <a:pPr marL="555638" lvl="1" indent="-277819" algn="l">
              <a:lnSpc>
                <a:spcPts val="3319"/>
              </a:lnSpc>
              <a:buAutoNum type="arabicPeriod"/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Study face morphing attacks and their impact on biometric systems</a:t>
            </a:r>
          </a:p>
          <a:p>
            <a:pPr marL="555638" lvl="1" indent="-277819" algn="l">
              <a:lnSpc>
                <a:spcPts val="3319"/>
              </a:lnSpc>
              <a:buAutoNum type="arabicPeriod"/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Preprocess facial image datasets for machine learning processing</a:t>
            </a:r>
          </a:p>
          <a:p>
            <a:pPr marL="555638" lvl="1" indent="-277819" algn="l">
              <a:lnSpc>
                <a:spcPts val="3319"/>
              </a:lnSpc>
              <a:buAutoNum type="arabicPeriod"/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Extract important facial features using Principal Component Analysis (PCA)</a:t>
            </a:r>
          </a:p>
          <a:p>
            <a:pPr marL="555638" lvl="1" indent="-277819" algn="l">
              <a:lnSpc>
                <a:spcPts val="3319"/>
              </a:lnSpc>
              <a:buAutoNum type="arabicPeriod"/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Train and compare multiple ML classification models</a:t>
            </a:r>
          </a:p>
          <a:p>
            <a:pPr marL="555638" lvl="1" indent="-277819" algn="l">
              <a:lnSpc>
                <a:spcPts val="3319"/>
              </a:lnSpc>
              <a:buAutoNum type="arabicPeriod"/>
            </a:pPr>
            <a:r>
              <a:rPr lang="en-US" sz="2573" i="1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Build a system to classify images as Original or Morphed</a:t>
            </a:r>
          </a:p>
          <a:p>
            <a:pPr algn="l">
              <a:lnSpc>
                <a:spcPts val="3319"/>
              </a:lnSpc>
            </a:pPr>
            <a:endParaRPr lang="en-US" sz="2573" i="1">
              <a:solidFill>
                <a:srgbClr val="FFFFFF"/>
              </a:solidFill>
              <a:latin typeface="Raleway Italics"/>
              <a:ea typeface="Raleway Italics"/>
              <a:cs typeface="Raleway Italics"/>
              <a:sym typeface="Raleway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988267" y="9400487"/>
            <a:ext cx="1074675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14761">
            <a:off x="5680419" y="640428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72293" flipV="1">
            <a:off x="3960635" y="-552540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0639" y="4270392"/>
            <a:ext cx="2910836" cy="3060510"/>
            <a:chOff x="0" y="0"/>
            <a:chExt cx="529418" cy="556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9418" cy="556640"/>
            </a:xfrm>
            <a:custGeom>
              <a:avLst/>
              <a:gdLst/>
              <a:ahLst/>
              <a:cxnLst/>
              <a:rect l="l" t="t" r="r" b="b"/>
              <a:pathLst>
                <a:path w="529418" h="556640">
                  <a:moveTo>
                    <a:pt x="51947" y="0"/>
                  </a:moveTo>
                  <a:lnTo>
                    <a:pt x="477471" y="0"/>
                  </a:lnTo>
                  <a:cubicBezTo>
                    <a:pt x="506160" y="0"/>
                    <a:pt x="529418" y="23257"/>
                    <a:pt x="529418" y="51947"/>
                  </a:cubicBezTo>
                  <a:lnTo>
                    <a:pt x="529418" y="504693"/>
                  </a:lnTo>
                  <a:cubicBezTo>
                    <a:pt x="529418" y="533383"/>
                    <a:pt x="506160" y="556640"/>
                    <a:pt x="477471" y="556640"/>
                  </a:cubicBezTo>
                  <a:lnTo>
                    <a:pt x="51947" y="556640"/>
                  </a:lnTo>
                  <a:cubicBezTo>
                    <a:pt x="23257" y="556640"/>
                    <a:pt x="0" y="533383"/>
                    <a:pt x="0" y="504693"/>
                  </a:cubicBezTo>
                  <a:lnTo>
                    <a:pt x="0" y="51947"/>
                  </a:lnTo>
                  <a:cubicBezTo>
                    <a:pt x="0" y="23257"/>
                    <a:pt x="23257" y="0"/>
                    <a:pt x="51947" y="0"/>
                  </a:cubicBezTo>
                  <a:close/>
                </a:path>
              </a:pathLst>
            </a:custGeom>
            <a:solidFill>
              <a:srgbClr val="C0E2E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29418" cy="59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3"/>
                </a:lnSpc>
              </a:pPr>
              <a:endParaRPr/>
            </a:p>
            <a:p>
              <a:pPr algn="ctr">
                <a:lnSpc>
                  <a:spcPts val="2783"/>
                </a:lnSpc>
              </a:pPr>
              <a:endParaRPr/>
            </a:p>
            <a:p>
              <a:pPr algn="ctr">
                <a:lnSpc>
                  <a:spcPts val="2783"/>
                </a:lnSpc>
              </a:pPr>
              <a:endParaRPr/>
            </a:p>
            <a:p>
              <a:pPr algn="ctr">
                <a:lnSpc>
                  <a:spcPts val="2783"/>
                </a:lnSpc>
              </a:pPr>
              <a:endParaRPr/>
            </a:p>
            <a:p>
              <a:pPr algn="ctr">
                <a:lnSpc>
                  <a:spcPts val="2783"/>
                </a:lnSpc>
              </a:pPr>
              <a:r>
                <a:rPr lang="en-US" sz="1988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KAGGLE DATASET</a:t>
              </a:r>
            </a:p>
            <a:p>
              <a:pPr algn="ctr">
                <a:lnSpc>
                  <a:spcPts val="2783"/>
                </a:lnSpc>
              </a:pPr>
              <a:r>
                <a:rPr lang="en-US" sz="1988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1,081 Original</a:t>
              </a:r>
            </a:p>
            <a:p>
              <a:pPr algn="ctr">
                <a:lnSpc>
                  <a:spcPts val="2783"/>
                </a:lnSpc>
              </a:pPr>
              <a:r>
                <a:rPr lang="en-US" sz="1988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960 Morphed</a:t>
              </a:r>
            </a:p>
            <a:p>
              <a:pPr algn="ctr">
                <a:lnSpc>
                  <a:spcPts val="2783"/>
                </a:lnSpc>
              </a:pPr>
              <a:endParaRPr lang="en-US" sz="1988" spc="133">
                <a:solidFill>
                  <a:srgbClr val="0F022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89611" y="4214129"/>
            <a:ext cx="2910836" cy="3060510"/>
            <a:chOff x="0" y="0"/>
            <a:chExt cx="529418" cy="556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9418" cy="556640"/>
            </a:xfrm>
            <a:custGeom>
              <a:avLst/>
              <a:gdLst/>
              <a:ahLst/>
              <a:cxnLst/>
              <a:rect l="l" t="t" r="r" b="b"/>
              <a:pathLst>
                <a:path w="529418" h="556640">
                  <a:moveTo>
                    <a:pt x="51947" y="0"/>
                  </a:moveTo>
                  <a:lnTo>
                    <a:pt x="477471" y="0"/>
                  </a:lnTo>
                  <a:cubicBezTo>
                    <a:pt x="506160" y="0"/>
                    <a:pt x="529418" y="23257"/>
                    <a:pt x="529418" y="51947"/>
                  </a:cubicBezTo>
                  <a:lnTo>
                    <a:pt x="529418" y="504693"/>
                  </a:lnTo>
                  <a:cubicBezTo>
                    <a:pt x="529418" y="533383"/>
                    <a:pt x="506160" y="556640"/>
                    <a:pt x="477471" y="556640"/>
                  </a:cubicBezTo>
                  <a:lnTo>
                    <a:pt x="51947" y="556640"/>
                  </a:lnTo>
                  <a:cubicBezTo>
                    <a:pt x="23257" y="556640"/>
                    <a:pt x="0" y="533383"/>
                    <a:pt x="0" y="504693"/>
                  </a:cubicBezTo>
                  <a:lnTo>
                    <a:pt x="0" y="51947"/>
                  </a:lnTo>
                  <a:cubicBezTo>
                    <a:pt x="0" y="23257"/>
                    <a:pt x="23257" y="0"/>
                    <a:pt x="51947" y="0"/>
                  </a:cubicBezTo>
                  <a:close/>
                </a:path>
              </a:pathLst>
            </a:custGeom>
            <a:solidFill>
              <a:srgbClr val="C0E2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29418" cy="59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RESIZE 64X64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Grayscale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Normalize</a:t>
              </a:r>
            </a:p>
            <a:p>
              <a:pPr algn="ctr">
                <a:lnSpc>
                  <a:spcPts val="2785"/>
                </a:lnSpc>
              </a:pPr>
              <a:endParaRPr lang="en-US" sz="1989" spc="133">
                <a:solidFill>
                  <a:srgbClr val="0F022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6246" y="4214129"/>
            <a:ext cx="2910836" cy="3060510"/>
            <a:chOff x="0" y="0"/>
            <a:chExt cx="529418" cy="556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418" cy="556640"/>
            </a:xfrm>
            <a:custGeom>
              <a:avLst/>
              <a:gdLst/>
              <a:ahLst/>
              <a:cxnLst/>
              <a:rect l="l" t="t" r="r" b="b"/>
              <a:pathLst>
                <a:path w="529418" h="556640">
                  <a:moveTo>
                    <a:pt x="51947" y="0"/>
                  </a:moveTo>
                  <a:lnTo>
                    <a:pt x="477471" y="0"/>
                  </a:lnTo>
                  <a:cubicBezTo>
                    <a:pt x="506160" y="0"/>
                    <a:pt x="529418" y="23257"/>
                    <a:pt x="529418" y="51947"/>
                  </a:cubicBezTo>
                  <a:lnTo>
                    <a:pt x="529418" y="504693"/>
                  </a:lnTo>
                  <a:cubicBezTo>
                    <a:pt x="529418" y="533383"/>
                    <a:pt x="506160" y="556640"/>
                    <a:pt x="477471" y="556640"/>
                  </a:cubicBezTo>
                  <a:lnTo>
                    <a:pt x="51947" y="556640"/>
                  </a:lnTo>
                  <a:cubicBezTo>
                    <a:pt x="23257" y="556640"/>
                    <a:pt x="0" y="533383"/>
                    <a:pt x="0" y="504693"/>
                  </a:cubicBezTo>
                  <a:lnTo>
                    <a:pt x="0" y="51947"/>
                  </a:lnTo>
                  <a:cubicBezTo>
                    <a:pt x="0" y="23257"/>
                    <a:pt x="23257" y="0"/>
                    <a:pt x="51947" y="0"/>
                  </a:cubicBezTo>
                  <a:close/>
                </a:path>
              </a:pathLst>
            </a:custGeom>
            <a:solidFill>
              <a:srgbClr val="C0E2E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29418" cy="59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150 COMPONENTS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95% VAriance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EIGENFaces</a:t>
              </a:r>
            </a:p>
            <a:p>
              <a:pPr algn="ctr">
                <a:lnSpc>
                  <a:spcPts val="2785"/>
                </a:lnSpc>
              </a:pPr>
              <a:endParaRPr lang="en-US" sz="1989" spc="133">
                <a:solidFill>
                  <a:srgbClr val="0F022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282882" y="4214129"/>
            <a:ext cx="2910836" cy="3060510"/>
            <a:chOff x="0" y="0"/>
            <a:chExt cx="529418" cy="556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9418" cy="556640"/>
            </a:xfrm>
            <a:custGeom>
              <a:avLst/>
              <a:gdLst/>
              <a:ahLst/>
              <a:cxnLst/>
              <a:rect l="l" t="t" r="r" b="b"/>
              <a:pathLst>
                <a:path w="529418" h="556640">
                  <a:moveTo>
                    <a:pt x="51947" y="0"/>
                  </a:moveTo>
                  <a:lnTo>
                    <a:pt x="477471" y="0"/>
                  </a:lnTo>
                  <a:cubicBezTo>
                    <a:pt x="506160" y="0"/>
                    <a:pt x="529418" y="23257"/>
                    <a:pt x="529418" y="51947"/>
                  </a:cubicBezTo>
                  <a:lnTo>
                    <a:pt x="529418" y="504693"/>
                  </a:lnTo>
                  <a:cubicBezTo>
                    <a:pt x="529418" y="533383"/>
                    <a:pt x="506160" y="556640"/>
                    <a:pt x="477471" y="556640"/>
                  </a:cubicBezTo>
                  <a:lnTo>
                    <a:pt x="51947" y="556640"/>
                  </a:lnTo>
                  <a:cubicBezTo>
                    <a:pt x="23257" y="556640"/>
                    <a:pt x="0" y="533383"/>
                    <a:pt x="0" y="504693"/>
                  </a:cubicBezTo>
                  <a:lnTo>
                    <a:pt x="0" y="51947"/>
                  </a:lnTo>
                  <a:cubicBezTo>
                    <a:pt x="0" y="23257"/>
                    <a:pt x="23257" y="0"/>
                    <a:pt x="51947" y="0"/>
                  </a:cubicBezTo>
                  <a:close/>
                </a:path>
              </a:pathLst>
            </a:custGeom>
            <a:solidFill>
              <a:srgbClr val="C0E2E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29418" cy="59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SVM / KNN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LOGIstic Reg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DECISIon Tree</a:t>
              </a:r>
            </a:p>
            <a:p>
              <a:pPr algn="ctr">
                <a:lnSpc>
                  <a:spcPts val="2785"/>
                </a:lnSpc>
              </a:pPr>
              <a:endParaRPr lang="en-US" sz="1989" spc="133">
                <a:solidFill>
                  <a:srgbClr val="0F022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879518" y="4125087"/>
            <a:ext cx="2910836" cy="3060510"/>
            <a:chOff x="0" y="0"/>
            <a:chExt cx="529418" cy="556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9418" cy="556640"/>
            </a:xfrm>
            <a:custGeom>
              <a:avLst/>
              <a:gdLst/>
              <a:ahLst/>
              <a:cxnLst/>
              <a:rect l="l" t="t" r="r" b="b"/>
              <a:pathLst>
                <a:path w="529418" h="556640">
                  <a:moveTo>
                    <a:pt x="51947" y="0"/>
                  </a:moveTo>
                  <a:lnTo>
                    <a:pt x="477471" y="0"/>
                  </a:lnTo>
                  <a:cubicBezTo>
                    <a:pt x="506160" y="0"/>
                    <a:pt x="529418" y="23257"/>
                    <a:pt x="529418" y="51947"/>
                  </a:cubicBezTo>
                  <a:lnTo>
                    <a:pt x="529418" y="504693"/>
                  </a:lnTo>
                  <a:cubicBezTo>
                    <a:pt x="529418" y="533383"/>
                    <a:pt x="506160" y="556640"/>
                    <a:pt x="477471" y="556640"/>
                  </a:cubicBezTo>
                  <a:lnTo>
                    <a:pt x="51947" y="556640"/>
                  </a:lnTo>
                  <a:cubicBezTo>
                    <a:pt x="23257" y="556640"/>
                    <a:pt x="0" y="533383"/>
                    <a:pt x="0" y="504693"/>
                  </a:cubicBezTo>
                  <a:lnTo>
                    <a:pt x="0" y="51947"/>
                  </a:lnTo>
                  <a:cubicBezTo>
                    <a:pt x="0" y="23257"/>
                    <a:pt x="23257" y="0"/>
                    <a:pt x="51947" y="0"/>
                  </a:cubicBezTo>
                  <a:close/>
                </a:path>
              </a:pathLst>
            </a:custGeom>
            <a:solidFill>
              <a:srgbClr val="C0E2E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29418" cy="59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endParaRPr/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ORIGINAL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Or</a:t>
              </a:r>
            </a:p>
            <a:p>
              <a:pPr algn="ctr">
                <a:lnSpc>
                  <a:spcPts val="2785"/>
                </a:lnSpc>
              </a:pPr>
              <a:r>
                <a:rPr lang="en-US" sz="1989" spc="133">
                  <a:solidFill>
                    <a:srgbClr val="0F022E"/>
                  </a:solidFill>
                  <a:latin typeface="DM Sans"/>
                  <a:ea typeface="DM Sans"/>
                  <a:cs typeface="DM Sans"/>
                  <a:sym typeface="DM Sans"/>
                </a:rPr>
                <a:t>Morphed</a:t>
              </a:r>
            </a:p>
            <a:p>
              <a:pPr algn="ctr">
                <a:lnSpc>
                  <a:spcPts val="2785"/>
                </a:lnSpc>
              </a:pPr>
              <a:endParaRPr lang="en-US" sz="1989" spc="133">
                <a:solidFill>
                  <a:srgbClr val="0F022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79518" y="4125087"/>
            <a:ext cx="2907043" cy="1018413"/>
            <a:chOff x="0" y="0"/>
            <a:chExt cx="598157" cy="2095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8157" cy="209550"/>
            </a:xfrm>
            <a:custGeom>
              <a:avLst/>
              <a:gdLst/>
              <a:ahLst/>
              <a:cxnLst/>
              <a:rect l="l" t="t" r="r" b="b"/>
              <a:pathLst>
                <a:path w="598157" h="209550">
                  <a:moveTo>
                    <a:pt x="52015" y="0"/>
                  </a:moveTo>
                  <a:lnTo>
                    <a:pt x="546142" y="0"/>
                  </a:lnTo>
                  <a:cubicBezTo>
                    <a:pt x="559937" y="0"/>
                    <a:pt x="573168" y="5480"/>
                    <a:pt x="582922" y="15235"/>
                  </a:cubicBezTo>
                  <a:cubicBezTo>
                    <a:pt x="592677" y="24989"/>
                    <a:pt x="598157" y="38220"/>
                    <a:pt x="598157" y="52015"/>
                  </a:cubicBezTo>
                  <a:lnTo>
                    <a:pt x="598157" y="157535"/>
                  </a:lnTo>
                  <a:cubicBezTo>
                    <a:pt x="598157" y="186262"/>
                    <a:pt x="574869" y="209550"/>
                    <a:pt x="546142" y="209550"/>
                  </a:cubicBezTo>
                  <a:lnTo>
                    <a:pt x="52015" y="209550"/>
                  </a:lnTo>
                  <a:cubicBezTo>
                    <a:pt x="23288" y="209550"/>
                    <a:pt x="0" y="186262"/>
                    <a:pt x="0" y="157535"/>
                  </a:cubicBezTo>
                  <a:lnTo>
                    <a:pt x="0" y="52015"/>
                  </a:lnTo>
                  <a:cubicBezTo>
                    <a:pt x="0" y="23288"/>
                    <a:pt x="23288" y="0"/>
                    <a:pt x="5201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598157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IMAGE</a:t>
              </a:r>
            </a:p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CLASSIFY</a:t>
              </a:r>
            </a:p>
            <a:p>
              <a:pPr algn="ctr">
                <a:lnSpc>
                  <a:spcPts val="2363"/>
                </a:lnSpc>
              </a:pPr>
              <a:endParaRPr lang="en-US" sz="1688" spc="113">
                <a:gradFill>
                  <a:gsLst>
                    <a:gs pos="0">
                      <a:srgbClr val="032A64">
                        <a:alpha val="100000"/>
                      </a:srgbClr>
                    </a:gs>
                    <a:gs pos="100000">
                      <a:srgbClr val="414C94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292847" y="4125087"/>
            <a:ext cx="2907043" cy="1018413"/>
            <a:chOff x="0" y="0"/>
            <a:chExt cx="598157" cy="209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8157" cy="209550"/>
            </a:xfrm>
            <a:custGeom>
              <a:avLst/>
              <a:gdLst/>
              <a:ahLst/>
              <a:cxnLst/>
              <a:rect l="l" t="t" r="r" b="b"/>
              <a:pathLst>
                <a:path w="598157" h="209550">
                  <a:moveTo>
                    <a:pt x="52015" y="0"/>
                  </a:moveTo>
                  <a:lnTo>
                    <a:pt x="546142" y="0"/>
                  </a:lnTo>
                  <a:cubicBezTo>
                    <a:pt x="559937" y="0"/>
                    <a:pt x="573168" y="5480"/>
                    <a:pt x="582922" y="15235"/>
                  </a:cubicBezTo>
                  <a:cubicBezTo>
                    <a:pt x="592677" y="24989"/>
                    <a:pt x="598157" y="38220"/>
                    <a:pt x="598157" y="52015"/>
                  </a:cubicBezTo>
                  <a:lnTo>
                    <a:pt x="598157" y="157535"/>
                  </a:lnTo>
                  <a:cubicBezTo>
                    <a:pt x="598157" y="186262"/>
                    <a:pt x="574869" y="209550"/>
                    <a:pt x="546142" y="209550"/>
                  </a:cubicBezTo>
                  <a:lnTo>
                    <a:pt x="52015" y="209550"/>
                  </a:lnTo>
                  <a:cubicBezTo>
                    <a:pt x="23288" y="209550"/>
                    <a:pt x="0" y="186262"/>
                    <a:pt x="0" y="157535"/>
                  </a:cubicBezTo>
                  <a:lnTo>
                    <a:pt x="0" y="52015"/>
                  </a:lnTo>
                  <a:cubicBezTo>
                    <a:pt x="0" y="23288"/>
                    <a:pt x="23288" y="0"/>
                    <a:pt x="5201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98157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MODEL</a:t>
              </a:r>
            </a:p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TRAINING</a:t>
              </a:r>
            </a:p>
            <a:p>
              <a:pPr algn="ctr">
                <a:lnSpc>
                  <a:spcPts val="2363"/>
                </a:lnSpc>
              </a:pPr>
              <a:endParaRPr lang="en-US" sz="1688" spc="113">
                <a:gradFill>
                  <a:gsLst>
                    <a:gs pos="0">
                      <a:srgbClr val="032A64">
                        <a:alpha val="100000"/>
                      </a:srgbClr>
                    </a:gs>
                    <a:gs pos="100000">
                      <a:srgbClr val="414C94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90478" y="4125087"/>
            <a:ext cx="2907043" cy="1018413"/>
            <a:chOff x="0" y="0"/>
            <a:chExt cx="598157" cy="2095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8157" cy="209550"/>
            </a:xfrm>
            <a:custGeom>
              <a:avLst/>
              <a:gdLst/>
              <a:ahLst/>
              <a:cxnLst/>
              <a:rect l="l" t="t" r="r" b="b"/>
              <a:pathLst>
                <a:path w="598157" h="209550">
                  <a:moveTo>
                    <a:pt x="52015" y="0"/>
                  </a:moveTo>
                  <a:lnTo>
                    <a:pt x="546142" y="0"/>
                  </a:lnTo>
                  <a:cubicBezTo>
                    <a:pt x="559937" y="0"/>
                    <a:pt x="573168" y="5480"/>
                    <a:pt x="582922" y="15235"/>
                  </a:cubicBezTo>
                  <a:cubicBezTo>
                    <a:pt x="592677" y="24989"/>
                    <a:pt x="598157" y="38220"/>
                    <a:pt x="598157" y="52015"/>
                  </a:cubicBezTo>
                  <a:lnTo>
                    <a:pt x="598157" y="157535"/>
                  </a:lnTo>
                  <a:cubicBezTo>
                    <a:pt x="598157" y="186262"/>
                    <a:pt x="574869" y="209550"/>
                    <a:pt x="546142" y="209550"/>
                  </a:cubicBezTo>
                  <a:lnTo>
                    <a:pt x="52015" y="209550"/>
                  </a:lnTo>
                  <a:cubicBezTo>
                    <a:pt x="23288" y="209550"/>
                    <a:pt x="0" y="186262"/>
                    <a:pt x="0" y="157535"/>
                  </a:cubicBezTo>
                  <a:lnTo>
                    <a:pt x="0" y="52015"/>
                  </a:lnTo>
                  <a:cubicBezTo>
                    <a:pt x="0" y="23288"/>
                    <a:pt x="23288" y="0"/>
                    <a:pt x="52015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598157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PCA</a:t>
              </a:r>
            </a:p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ExTRACTION</a:t>
              </a:r>
            </a:p>
            <a:p>
              <a:pPr algn="ctr">
                <a:lnSpc>
                  <a:spcPts val="2363"/>
                </a:lnSpc>
              </a:pPr>
              <a:endParaRPr lang="en-US" sz="1688" spc="113">
                <a:gradFill>
                  <a:gsLst>
                    <a:gs pos="0">
                      <a:srgbClr val="032A64">
                        <a:alpha val="100000"/>
                      </a:srgbClr>
                    </a:gs>
                    <a:gs pos="100000">
                      <a:srgbClr val="414C94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089611" y="4270392"/>
            <a:ext cx="2907043" cy="1018413"/>
            <a:chOff x="0" y="0"/>
            <a:chExt cx="598157" cy="2095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8157" cy="209550"/>
            </a:xfrm>
            <a:custGeom>
              <a:avLst/>
              <a:gdLst/>
              <a:ahLst/>
              <a:cxnLst/>
              <a:rect l="l" t="t" r="r" b="b"/>
              <a:pathLst>
                <a:path w="598157" h="209550">
                  <a:moveTo>
                    <a:pt x="52015" y="0"/>
                  </a:moveTo>
                  <a:lnTo>
                    <a:pt x="546142" y="0"/>
                  </a:lnTo>
                  <a:cubicBezTo>
                    <a:pt x="559937" y="0"/>
                    <a:pt x="573168" y="5480"/>
                    <a:pt x="582922" y="15235"/>
                  </a:cubicBezTo>
                  <a:cubicBezTo>
                    <a:pt x="592677" y="24989"/>
                    <a:pt x="598157" y="38220"/>
                    <a:pt x="598157" y="52015"/>
                  </a:cubicBezTo>
                  <a:lnTo>
                    <a:pt x="598157" y="157535"/>
                  </a:lnTo>
                  <a:cubicBezTo>
                    <a:pt x="598157" y="186262"/>
                    <a:pt x="574869" y="209550"/>
                    <a:pt x="546142" y="209550"/>
                  </a:cubicBezTo>
                  <a:lnTo>
                    <a:pt x="52015" y="209550"/>
                  </a:lnTo>
                  <a:cubicBezTo>
                    <a:pt x="23288" y="209550"/>
                    <a:pt x="0" y="186262"/>
                    <a:pt x="0" y="157535"/>
                  </a:cubicBezTo>
                  <a:lnTo>
                    <a:pt x="0" y="52015"/>
                  </a:lnTo>
                  <a:cubicBezTo>
                    <a:pt x="0" y="23288"/>
                    <a:pt x="23288" y="0"/>
                    <a:pt x="52015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598157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IMAGE</a:t>
              </a:r>
            </a:p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PREPROCESS</a:t>
              </a:r>
            </a:p>
            <a:p>
              <a:pPr algn="ctr">
                <a:lnSpc>
                  <a:spcPts val="2363"/>
                </a:lnSpc>
              </a:pPr>
              <a:endParaRPr lang="en-US" sz="1688" spc="113">
                <a:gradFill>
                  <a:gsLst>
                    <a:gs pos="0">
                      <a:srgbClr val="032A64">
                        <a:alpha val="100000"/>
                      </a:srgbClr>
                    </a:gs>
                    <a:gs pos="100000">
                      <a:srgbClr val="414C94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6293" y="4314824"/>
            <a:ext cx="2907043" cy="1018413"/>
            <a:chOff x="0" y="0"/>
            <a:chExt cx="598157" cy="209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8157" cy="209550"/>
            </a:xfrm>
            <a:custGeom>
              <a:avLst/>
              <a:gdLst/>
              <a:ahLst/>
              <a:cxnLst/>
              <a:rect l="l" t="t" r="r" b="b"/>
              <a:pathLst>
                <a:path w="598157" h="209550">
                  <a:moveTo>
                    <a:pt x="52015" y="0"/>
                  </a:moveTo>
                  <a:lnTo>
                    <a:pt x="546142" y="0"/>
                  </a:lnTo>
                  <a:cubicBezTo>
                    <a:pt x="559937" y="0"/>
                    <a:pt x="573168" y="5480"/>
                    <a:pt x="582922" y="15235"/>
                  </a:cubicBezTo>
                  <a:cubicBezTo>
                    <a:pt x="592677" y="24989"/>
                    <a:pt x="598157" y="38220"/>
                    <a:pt x="598157" y="52015"/>
                  </a:cubicBezTo>
                  <a:lnTo>
                    <a:pt x="598157" y="157535"/>
                  </a:lnTo>
                  <a:cubicBezTo>
                    <a:pt x="598157" y="186262"/>
                    <a:pt x="574869" y="209550"/>
                    <a:pt x="546142" y="209550"/>
                  </a:cubicBezTo>
                  <a:lnTo>
                    <a:pt x="52015" y="209550"/>
                  </a:lnTo>
                  <a:cubicBezTo>
                    <a:pt x="23288" y="209550"/>
                    <a:pt x="0" y="186262"/>
                    <a:pt x="0" y="157535"/>
                  </a:cubicBezTo>
                  <a:lnTo>
                    <a:pt x="0" y="52015"/>
                  </a:lnTo>
                  <a:cubicBezTo>
                    <a:pt x="0" y="23288"/>
                    <a:pt x="23288" y="0"/>
                    <a:pt x="52015" y="0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598157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3"/>
                </a:lnSpc>
              </a:pPr>
              <a:r>
                <a:rPr lang="en-US" sz="1688" spc="113">
                  <a:gradFill>
                    <a:gsLst>
                      <a:gs pos="0">
                        <a:srgbClr val="032A64">
                          <a:alpha val="100000"/>
                        </a:srgbClr>
                      </a:gs>
                      <a:gs pos="100000">
                        <a:srgbClr val="414C94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DATA COLLECTION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3467543" y="5744384"/>
            <a:ext cx="556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AutoShape 35"/>
          <p:cNvSpPr/>
          <p:nvPr/>
        </p:nvSpPr>
        <p:spPr>
          <a:xfrm>
            <a:off x="14260393" y="5725334"/>
            <a:ext cx="556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AutoShape 36"/>
          <p:cNvSpPr/>
          <p:nvPr/>
        </p:nvSpPr>
        <p:spPr>
          <a:xfrm>
            <a:off x="10663757" y="5744384"/>
            <a:ext cx="556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7" name="AutoShape 37"/>
          <p:cNvSpPr/>
          <p:nvPr/>
        </p:nvSpPr>
        <p:spPr>
          <a:xfrm>
            <a:off x="7067121" y="5744384"/>
            <a:ext cx="556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TextBox 38"/>
          <p:cNvSpPr txBox="1"/>
          <p:nvPr/>
        </p:nvSpPr>
        <p:spPr>
          <a:xfrm>
            <a:off x="1815260" y="1513330"/>
            <a:ext cx="14657480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5600" b="1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OVERALL ARCHITECTURE DIAGRAM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867530" y="9392058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14761">
            <a:off x="5680419" y="640428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72293" flipV="1">
            <a:off x="3960635" y="-552540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64052" y="2751068"/>
            <a:ext cx="10187447" cy="6507232"/>
          </a:xfrm>
          <a:custGeom>
            <a:avLst/>
            <a:gdLst/>
            <a:ahLst/>
            <a:cxnLst/>
            <a:rect l="l" t="t" r="r" b="b"/>
            <a:pathLst>
              <a:path w="10187447" h="6507232">
                <a:moveTo>
                  <a:pt x="0" y="0"/>
                </a:moveTo>
                <a:lnTo>
                  <a:pt x="10187447" y="0"/>
                </a:lnTo>
                <a:lnTo>
                  <a:pt x="10187447" y="6507232"/>
                </a:lnTo>
                <a:lnTo>
                  <a:pt x="0" y="65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82114" y="9383364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09271" y="612965"/>
            <a:ext cx="9526310" cy="7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  <a:spcBef>
                <a:spcPct val="0"/>
              </a:spcBef>
            </a:pPr>
            <a:r>
              <a:rPr lang="en-US" sz="4389" spc="2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MODULE-WISE DESIGN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66355" y="1977042"/>
            <a:ext cx="5003125" cy="40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  <a:spcBef>
                <a:spcPct val="0"/>
              </a:spcBef>
            </a:pPr>
            <a:r>
              <a:rPr lang="en-US" sz="2389" spc="1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 1 — DATA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582889">
            <a:off x="-4783694" y="7975014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72293" flipV="1">
            <a:off x="3960635" y="-552540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487209"/>
            <a:ext cx="16348857" cy="4933229"/>
          </a:xfrm>
          <a:custGeom>
            <a:avLst/>
            <a:gdLst/>
            <a:ahLst/>
            <a:cxnLst/>
            <a:rect l="l" t="t" r="r" b="b"/>
            <a:pathLst>
              <a:path w="16348857" h="4933229">
                <a:moveTo>
                  <a:pt x="0" y="0"/>
                </a:moveTo>
                <a:lnTo>
                  <a:pt x="16348857" y="0"/>
                </a:lnTo>
                <a:lnTo>
                  <a:pt x="16348857" y="4933229"/>
                </a:lnTo>
                <a:lnTo>
                  <a:pt x="0" y="4933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63" r="-486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133628" y="9220200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7456" y="1769636"/>
            <a:ext cx="10203969" cy="50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sz="2989" spc="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 2 — IMAGE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14761">
            <a:off x="5680419" y="640428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72293" flipV="1">
            <a:off x="3960635" y="-552540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6716" y="2849511"/>
            <a:ext cx="16871284" cy="5799504"/>
          </a:xfrm>
          <a:custGeom>
            <a:avLst/>
            <a:gdLst/>
            <a:ahLst/>
            <a:cxnLst/>
            <a:rect l="l" t="t" r="r" b="b"/>
            <a:pathLst>
              <a:path w="16871284" h="5799504">
                <a:moveTo>
                  <a:pt x="0" y="0"/>
                </a:moveTo>
                <a:lnTo>
                  <a:pt x="16871284" y="0"/>
                </a:lnTo>
                <a:lnTo>
                  <a:pt x="16871284" y="5799504"/>
                </a:lnTo>
                <a:lnTo>
                  <a:pt x="0" y="5799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868106" y="9383364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9248" y="1596887"/>
            <a:ext cx="6255306" cy="48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99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 3— PCA feature extraction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2831">
            <a:off x="-183072" y="9034920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38710" flipV="1">
            <a:off x="-4529841" y="-557315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1261" y="2007032"/>
            <a:ext cx="16221224" cy="6650702"/>
          </a:xfrm>
          <a:custGeom>
            <a:avLst/>
            <a:gdLst/>
            <a:ahLst/>
            <a:cxnLst/>
            <a:rect l="l" t="t" r="r" b="b"/>
            <a:pathLst>
              <a:path w="16221224" h="6650702">
                <a:moveTo>
                  <a:pt x="0" y="0"/>
                </a:moveTo>
                <a:lnTo>
                  <a:pt x="16221224" y="0"/>
                </a:lnTo>
                <a:lnTo>
                  <a:pt x="16221224" y="6650702"/>
                </a:lnTo>
                <a:lnTo>
                  <a:pt x="0" y="665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82114" y="9220200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1588" y="1429572"/>
            <a:ext cx="5974437" cy="577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2"/>
              </a:lnSpc>
              <a:spcBef>
                <a:spcPct val="0"/>
              </a:spcBef>
            </a:pPr>
            <a:r>
              <a:rPr lang="en-US" sz="36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 4 — Model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14761">
            <a:off x="5680419" y="640428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572293" flipV="1">
            <a:off x="3960635" y="-5525403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81201" y="2663282"/>
            <a:ext cx="11297676" cy="6595018"/>
          </a:xfrm>
          <a:custGeom>
            <a:avLst/>
            <a:gdLst/>
            <a:ahLst/>
            <a:cxnLst/>
            <a:rect l="l" t="t" r="r" b="b"/>
            <a:pathLst>
              <a:path w="11297676" h="6595018">
                <a:moveTo>
                  <a:pt x="0" y="0"/>
                </a:moveTo>
                <a:lnTo>
                  <a:pt x="11297675" y="0"/>
                </a:lnTo>
                <a:lnTo>
                  <a:pt x="11297675" y="6595018"/>
                </a:lnTo>
                <a:lnTo>
                  <a:pt x="0" y="6595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82114" y="9220200"/>
            <a:ext cx="1154372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9201" y="1540355"/>
            <a:ext cx="7710726" cy="62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9"/>
              </a:lnSpc>
              <a:spcBef>
                <a:spcPct val="0"/>
              </a:spcBef>
            </a:pPr>
            <a:r>
              <a:rPr lang="en-US" sz="39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MODULE 5 — Image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25294">
            <a:off x="-4706113" y="875424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19534" flipV="1">
            <a:off x="-3557550" y="-5130180"/>
            <a:ext cx="21645066" cy="7900449"/>
          </a:xfrm>
          <a:custGeom>
            <a:avLst/>
            <a:gdLst/>
            <a:ahLst/>
            <a:cxnLst/>
            <a:rect l="l" t="t" r="r" b="b"/>
            <a:pathLst>
              <a:path w="21645066" h="7900449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97596" y="794738"/>
            <a:ext cx="13734201" cy="121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8"/>
              </a:lnSpc>
            </a:pPr>
            <a:r>
              <a:rPr lang="en-US" sz="5672" b="1" dirty="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PERFORMANCE METRICS</a:t>
            </a:r>
          </a:p>
          <a:p>
            <a:pPr algn="ctr">
              <a:lnSpc>
                <a:spcPts val="4058"/>
              </a:lnSpc>
            </a:pPr>
            <a:endParaRPr lang="en-US" sz="5672" b="1" dirty="0">
              <a:solidFill>
                <a:srgbClr val="36E9FD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721962" y="9220200"/>
            <a:ext cx="1074675" cy="51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57795-F364-4DF7-E2A6-95E9421E70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3"/>
          <a:stretch>
            <a:fillRect/>
          </a:stretch>
        </p:blipFill>
        <p:spPr bwMode="auto">
          <a:xfrm>
            <a:off x="975334" y="1983037"/>
            <a:ext cx="7889363" cy="71100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CA1C5D-854F-17D1-E69B-28ABE618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637" y="1983036"/>
            <a:ext cx="7766966" cy="71100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F774E-3715-49AE-799B-31315010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ED32B9-1466-16F6-A419-D046D4898EFE}"/>
              </a:ext>
            </a:extLst>
          </p:cNvPr>
          <p:cNvSpPr/>
          <p:nvPr/>
        </p:nvSpPr>
        <p:spPr>
          <a:xfrm rot="1125294">
            <a:off x="-4706113" y="8754247"/>
            <a:ext cx="19149891" cy="6989710"/>
          </a:xfrm>
          <a:custGeom>
            <a:avLst/>
            <a:gdLst/>
            <a:ahLst/>
            <a:cxnLst/>
            <a:rect l="l" t="t" r="r" b="b"/>
            <a:pathLst>
              <a:path w="19149891" h="6989710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FFA1FD-2F35-EF83-4D2F-0E5D08559026}"/>
              </a:ext>
            </a:extLst>
          </p:cNvPr>
          <p:cNvSpPr/>
          <p:nvPr/>
        </p:nvSpPr>
        <p:spPr>
          <a:xfrm rot="-519534" flipV="1">
            <a:off x="-3557550" y="-5130180"/>
            <a:ext cx="21645066" cy="7900449"/>
          </a:xfrm>
          <a:custGeom>
            <a:avLst/>
            <a:gdLst/>
            <a:ahLst/>
            <a:cxnLst/>
            <a:rect l="l" t="t" r="r" b="b"/>
            <a:pathLst>
              <a:path w="21645066" h="7900449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BDA1565-D144-24D8-9437-946EB23F8502}"/>
              </a:ext>
            </a:extLst>
          </p:cNvPr>
          <p:cNvSpPr/>
          <p:nvPr/>
        </p:nvSpPr>
        <p:spPr>
          <a:xfrm>
            <a:off x="4491041" y="2290854"/>
            <a:ext cx="10009620" cy="7140841"/>
          </a:xfrm>
          <a:custGeom>
            <a:avLst/>
            <a:gdLst/>
            <a:ahLst/>
            <a:cxnLst/>
            <a:rect l="l" t="t" r="r" b="b"/>
            <a:pathLst>
              <a:path w="10009620" h="7140841">
                <a:moveTo>
                  <a:pt x="0" y="0"/>
                </a:moveTo>
                <a:lnTo>
                  <a:pt x="10009620" y="0"/>
                </a:lnTo>
                <a:lnTo>
                  <a:pt x="10009620" y="7140840"/>
                </a:lnTo>
                <a:lnTo>
                  <a:pt x="0" y="7140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5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AAF7BC-4B11-7FE0-FA5B-42B27017900F}"/>
              </a:ext>
            </a:extLst>
          </p:cNvPr>
          <p:cNvSpPr txBox="1"/>
          <p:nvPr/>
        </p:nvSpPr>
        <p:spPr>
          <a:xfrm>
            <a:off x="1980108" y="1162050"/>
            <a:ext cx="13734201" cy="121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8"/>
              </a:lnSpc>
            </a:pPr>
            <a:r>
              <a:rPr lang="en-US" sz="5672" b="1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PERFORMANCE METRICS</a:t>
            </a:r>
          </a:p>
          <a:p>
            <a:pPr algn="ctr">
              <a:lnSpc>
                <a:spcPts val="4058"/>
              </a:lnSpc>
            </a:pPr>
            <a:endParaRPr lang="en-US" sz="5672" b="1">
              <a:solidFill>
                <a:srgbClr val="36E9FD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1F95C6-5B15-1034-2685-C5ED3F113B5A}"/>
              </a:ext>
            </a:extLst>
          </p:cNvPr>
          <p:cNvSpPr txBox="1"/>
          <p:nvPr/>
        </p:nvSpPr>
        <p:spPr>
          <a:xfrm>
            <a:off x="16721962" y="9220200"/>
            <a:ext cx="1074675" cy="3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2600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210</Words>
  <Application>Microsoft Office PowerPoint</Application>
  <PresentationFormat>Custom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DM Sans</vt:lpstr>
      <vt:lpstr>Arial</vt:lpstr>
      <vt:lpstr>Raleway Italics</vt:lpstr>
      <vt:lpstr>Montserrat Heavy</vt:lpstr>
      <vt:lpstr>Raleway Bold Italics</vt:lpstr>
      <vt:lpstr>Calibri</vt:lpstr>
      <vt:lpstr>Montserrat Semi-Bold</vt:lpstr>
      <vt:lpstr>Mokoto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Morphed Face Image Detection System</dc:title>
  <cp:lastModifiedBy>Sathyapriya R</cp:lastModifiedBy>
  <cp:revision>4</cp:revision>
  <dcterms:created xsi:type="dcterms:W3CDTF">2006-08-16T00:00:00Z</dcterms:created>
  <dcterms:modified xsi:type="dcterms:W3CDTF">2026-04-27T17:17:21Z</dcterms:modified>
  <dc:identifier>DAHHT3zfGhQ</dc:identifier>
</cp:coreProperties>
</file>